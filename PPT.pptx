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0"/>
  </p:notesMasterIdLst>
  <p:handoutMasterIdLst>
    <p:handoutMasterId r:id="rId11"/>
  </p:handoutMasterIdLst>
  <p:sldIdLst>
    <p:sldId id="256" r:id="rId5"/>
    <p:sldId id="257" r:id="rId6"/>
    <p:sldId id="269" r:id="rId7"/>
    <p:sldId id="270" r:id="rId8"/>
    <p:sldId id="268" r:id="rId9"/>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94660"/>
  </p:normalViewPr>
  <p:slideViewPr>
    <p:cSldViewPr snapToGrid="0">
      <p:cViewPr varScale="1">
        <p:scale>
          <a:sx n="85" d="100"/>
          <a:sy n="85" d="100"/>
        </p:scale>
        <p:origin x="610" y="19"/>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dirty="0" err="1">
                <a:latin typeface="Times New Roman" panose="02020603050405020304" pitchFamily="18" charset="0"/>
                <a:ea typeface="Calibri" panose="020F0502020204030204" pitchFamily="34" charset="0"/>
                <a:cs typeface="Times New Roman" panose="02020603050405020304" pitchFamily="18" charset="0"/>
              </a:rPr>
              <a:t>Cinemate</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err="1">
                <a:solidFill>
                  <a:srgbClr val="000000"/>
                </a:solidFill>
                <a:latin typeface="Times New Roman" panose="02020603050405020304" pitchFamily="18" charset="0"/>
                <a:ea typeface="MS PGothic"/>
                <a:cs typeface="Times New Roman" panose="02020603050405020304" pitchFamily="18" charset="0"/>
              </a:rPr>
              <a:t>Apoorvi</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2210991328</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i="0" dirty="0" err="1">
                <a:solidFill>
                  <a:srgbClr val="1F2328"/>
                </a:solidFill>
                <a:effectLst/>
                <a:latin typeface="Mona Sans VF"/>
              </a:rPr>
              <a:t>Shyam</a:t>
            </a:r>
            <a:r>
              <a:rPr lang="en-US" sz="2000" b="0" i="0" dirty="0">
                <a:solidFill>
                  <a:srgbClr val="1F2328"/>
                </a:solidFill>
                <a:effectLst/>
                <a:latin typeface="Mona Sans VF"/>
              </a:rPr>
              <a:t> Goyal</a:t>
            </a:r>
            <a:r>
              <a:rPr lang="en-US" sz="2000" i="0" spc="-1" dirty="0">
                <a:solidFill>
                  <a:srgbClr val="000000"/>
                </a:solidFill>
                <a:effectLst/>
                <a:latin typeface="Times New Roman" panose="02020603050405020304" pitchFamily="18" charset="0"/>
                <a:ea typeface="MS PGothic"/>
                <a:cs typeface="Times New Roman" panose="02020603050405020304" pitchFamily="18" charset="0"/>
              </a:rPr>
              <a:t> </a:t>
            </a:r>
            <a:r>
              <a:rPr lang="en-US" sz="2000" b="0" i="0" dirty="0">
                <a:solidFill>
                  <a:srgbClr val="1F2328"/>
                </a:solidFill>
                <a:effectLst/>
                <a:latin typeface="Mona Sans VF"/>
              </a:rPr>
              <a:t>CET1003885</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2000" b="0" strike="noStrike" spc="-1" dirty="0">
              <a:solidFill>
                <a:srgbClr val="000000"/>
              </a:solidFill>
              <a:latin typeface="Calibri"/>
            </a:endParaRP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Cinemate</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an interactive, emotion-adaptive social streaming platform designed to bridge geographical gaps between friends and family. It transforms passive viewing into a shared virtual experience, allowing multiple users to watch videos together in real-time. By utilizing a low-latency socket architecture, the platform guarantees that every pause, rewind, and play action is perfectly synchronized across all connected screens, eliminating the hassle of manually syncing playback. To further elevate the immersion, the interface features a unique mood-based system that dynamically shifts the room's color themes to match the vibe of the selected media—whether it is a tense thriller or a lighthearted comedy. Users can easily upload personal clips or full movies into highly secure, host-controlled private rooms while sharing reactions seamlessly via a built-in sidebar chat.</a:t>
            </a:r>
          </a:p>
          <a:p>
            <a:pPr marL="139700" lvl="0">
              <a:buClr>
                <a:srgbClr val="000000"/>
              </a:buClr>
              <a:buSzPts val="1400"/>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p>
          <a:p>
            <a:pPr marL="139700" lvl="0">
              <a:buClr>
                <a:srgbClr val="000000"/>
              </a:buClr>
              <a:buSzPts val="1400"/>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14428-F61D-4EAF-8800-F915E92D4656}"/>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4DCBBE65-DFCF-421F-AC4C-8E9040AA562E}"/>
              </a:ext>
            </a:extLst>
          </p:cNvPr>
          <p:cNvSpPr>
            <a:spLocks noGrp="1"/>
          </p:cNvSpPr>
          <p:nvPr>
            <p:ph type="subTitle"/>
          </p:nvPr>
        </p:nvSpPr>
        <p:spPr>
          <a:xfrm>
            <a:off x="457200" y="1604519"/>
            <a:ext cx="8229240" cy="4733527"/>
          </a:xfrm>
        </p:spPr>
        <p:txBody>
          <a:bodyPr/>
          <a:lstStyle/>
          <a:p>
            <a:pPr marL="139700" lvl="0">
              <a:buClr>
                <a:srgbClr val="000000"/>
              </a:buClr>
              <a:buSzPts val="1400"/>
            </a:pP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Key Features</a:t>
            </a:r>
            <a:b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br>
            <a:endPar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Flawless Synchronization: Ensures all participants experience play, pause, and seek actions simultaneously.</a:t>
            </a:r>
          </a:p>
          <a:p>
            <a:pPr marL="457200" lvl="0" indent="-317500">
              <a:buClr>
                <a:srgbClr val="000000"/>
              </a:buClr>
              <a:buSzPts val="1400"/>
              <a:buChar char="●"/>
            </a:pP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Emotion-Adaptive UI: This unique feature allows users to select mood-based UI themes (e.g., Romantic, Horror, Happy, Neutral) to match the viewing atmosphere.</a:t>
            </a:r>
            <a:endParaRPr lang="en-US" sz="3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lvl="0" indent="-317500">
              <a:buClr>
                <a:srgbClr val="000000"/>
              </a:buClr>
              <a:buSzPts val="1400"/>
              <a:buChar char="●"/>
            </a:pPr>
            <a:r>
              <a:rPr lang="en-US" sz="2000" dirty="0">
                <a:latin typeface="Times New Roman" panose="02020603050405020304" pitchFamily="18" charset="0"/>
                <a:cs typeface="Times New Roman" panose="02020603050405020304" pitchFamily="18" charset="0"/>
              </a:rPr>
              <a:t>Real-Time Communication: Includes an integrated chat system that supports both text and image sharing during the watch party.</a:t>
            </a:r>
          </a:p>
          <a:p>
            <a:pPr marL="457200" lvl="0" indent="-317500">
              <a:buClr>
                <a:srgbClr val="000000"/>
              </a:buClr>
              <a:buSzPts val="1400"/>
              <a:buChar char="●"/>
            </a:pPr>
            <a:r>
              <a:rPr lang="en-US" sz="2000" dirty="0">
                <a:latin typeface="Times New Roman" panose="02020603050405020304" pitchFamily="18" charset="0"/>
                <a:cs typeface="Times New Roman" panose="02020603050405020304" pitchFamily="18" charset="0"/>
              </a:rPr>
              <a:t>Secure Access: Uses multi-factor authentication containing standard login/registration flows plus email-based OTP via </a:t>
            </a:r>
            <a:r>
              <a:rPr lang="en-US" sz="2000" dirty="0" err="1">
                <a:latin typeface="Times New Roman" panose="02020603050405020304" pitchFamily="18" charset="0"/>
                <a:cs typeface="Times New Roman" panose="02020603050405020304" pitchFamily="18" charset="0"/>
              </a:rPr>
              <a:t>Nodemailer</a:t>
            </a:r>
            <a:r>
              <a:rPr lang="en-US" sz="2000" dirty="0">
                <a:latin typeface="Times New Roman" panose="02020603050405020304" pitchFamily="18" charset="0"/>
                <a:cs typeface="Times New Roman" panose="02020603050405020304" pitchFamily="18" charset="0"/>
              </a:rPr>
              <a:t>.</a:t>
            </a:r>
          </a:p>
          <a:p>
            <a:pPr marL="457200" lvl="0" indent="-317500">
              <a:buClr>
                <a:srgbClr val="000000"/>
              </a:buClr>
              <a:buSzPts val="1400"/>
              <a:buChar char="●"/>
            </a:pPr>
            <a:r>
              <a:rPr lang="en-US" sz="2000" dirty="0">
                <a:latin typeface="Times New Roman" panose="02020603050405020304" pitchFamily="18" charset="0"/>
                <a:cs typeface="Times New Roman" panose="02020603050405020304" pitchFamily="18" charset="0"/>
              </a:rPr>
              <a:t>Room Management: Dynamic virtual room creation with special controls reserved for the room's creator.</a:t>
            </a:r>
          </a:p>
        </p:txBody>
      </p:sp>
    </p:spTree>
    <p:extLst>
      <p:ext uri="{BB962C8B-B14F-4D97-AF65-F5344CB8AC3E}">
        <p14:creationId xmlns:p14="http://schemas.microsoft.com/office/powerpoint/2010/main" val="1162265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829EB-B3F1-46CB-89B5-61C65910826A}"/>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06BD20E0-035B-431E-BD61-5008ACB6C848}"/>
              </a:ext>
            </a:extLst>
          </p:cNvPr>
          <p:cNvSpPr>
            <a:spLocks noGrp="1"/>
          </p:cNvSpPr>
          <p:nvPr>
            <p:ph type="subTitle"/>
          </p:nvPr>
        </p:nvSpPr>
        <p:spPr>
          <a:xfrm>
            <a:off x="564776" y="1440360"/>
            <a:ext cx="8229240" cy="3977280"/>
          </a:xfrm>
        </p:spPr>
        <p:txBody>
          <a:bodyPr/>
          <a:lstStyle/>
          <a:p>
            <a:pPr marL="0" indent="0">
              <a:buNone/>
            </a:pP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b="1" dirty="0">
                <a:latin typeface="Tahoma" panose="020B0604030504040204" pitchFamily="34" charset="0"/>
                <a:ea typeface="Tahoma" panose="020B0604030504040204" pitchFamily="34" charset="0"/>
                <a:cs typeface="Tahoma" panose="020B0604030504040204" pitchFamily="34" charset="0"/>
              </a:rPr>
              <a:t>Technology Stack</a:t>
            </a:r>
            <a:br>
              <a:rPr lang="en-US" sz="2000" b="1" dirty="0">
                <a:latin typeface="Tahoma" panose="020B0604030504040204" pitchFamily="34" charset="0"/>
                <a:ea typeface="Tahoma" panose="020B0604030504040204" pitchFamily="34" charset="0"/>
                <a:cs typeface="Tahoma" panose="020B0604030504040204" pitchFamily="34" charset="0"/>
              </a:rPr>
            </a:br>
            <a:endParaRPr lang="en-US" sz="2000" b="1" dirty="0">
              <a:latin typeface="Tahoma" panose="020B0604030504040204" pitchFamily="34" charset="0"/>
              <a:ea typeface="Tahoma" panose="020B0604030504040204" pitchFamily="34" charset="0"/>
              <a:cs typeface="Tahoma" panose="020B0604030504040204" pitchFamily="34" charset="0"/>
            </a:endParaRPr>
          </a:p>
          <a:p>
            <a:r>
              <a:rPr lang="en-US" sz="2000" dirty="0">
                <a:latin typeface="Tahoma" panose="020B0604030504040204" pitchFamily="34" charset="0"/>
                <a:ea typeface="Tahoma" panose="020B0604030504040204" pitchFamily="34" charset="0"/>
                <a:cs typeface="Tahoma" panose="020B0604030504040204" pitchFamily="34" charset="0"/>
              </a:rPr>
              <a:t>Frontend: React, </a:t>
            </a:r>
            <a:r>
              <a:rPr lang="en-US" sz="2000" dirty="0" err="1">
                <a:latin typeface="Tahoma" panose="020B0604030504040204" pitchFamily="34" charset="0"/>
                <a:ea typeface="Tahoma" panose="020B0604030504040204" pitchFamily="34" charset="0"/>
                <a:cs typeface="Tahoma" panose="020B0604030504040204" pitchFamily="34" charset="0"/>
              </a:rPr>
              <a:t>Vite</a:t>
            </a:r>
            <a:endParaRPr lang="en-US" sz="2000" dirty="0">
              <a:latin typeface="Tahoma" panose="020B0604030504040204" pitchFamily="34" charset="0"/>
              <a:ea typeface="Tahoma" panose="020B0604030504040204" pitchFamily="34" charset="0"/>
              <a:cs typeface="Tahoma" panose="020B0604030504040204" pitchFamily="34" charset="0"/>
            </a:endParaRPr>
          </a:p>
          <a:p>
            <a:r>
              <a:rPr lang="en-US" sz="2000" dirty="0">
                <a:latin typeface="Tahoma" panose="020B0604030504040204" pitchFamily="34" charset="0"/>
                <a:ea typeface="Tahoma" panose="020B0604030504040204" pitchFamily="34" charset="0"/>
                <a:cs typeface="Tahoma" panose="020B0604030504040204" pitchFamily="34" charset="0"/>
              </a:rPr>
              <a:t>Backend: Node.js, Express</a:t>
            </a:r>
          </a:p>
          <a:p>
            <a:r>
              <a:rPr lang="en-US" sz="2000" dirty="0">
                <a:latin typeface="Tahoma" panose="020B0604030504040204" pitchFamily="34" charset="0"/>
                <a:ea typeface="Tahoma" panose="020B0604030504040204" pitchFamily="34" charset="0"/>
                <a:cs typeface="Tahoma" panose="020B0604030504040204" pitchFamily="34" charset="0"/>
              </a:rPr>
              <a:t>Database: MongoDB</a:t>
            </a:r>
          </a:p>
          <a:p>
            <a:r>
              <a:rPr lang="en-US" sz="2000" dirty="0">
                <a:latin typeface="Tahoma" panose="020B0604030504040204" pitchFamily="34" charset="0"/>
                <a:ea typeface="Tahoma" panose="020B0604030504040204" pitchFamily="34" charset="0"/>
                <a:cs typeface="Tahoma" panose="020B0604030504040204" pitchFamily="34" charset="0"/>
              </a:rPr>
              <a:t>Real-Time Engine: Socket.io (Handles the low-latency video synchronization and chat)</a:t>
            </a:r>
          </a:p>
          <a:p>
            <a:r>
              <a:rPr lang="en-US" sz="2000" dirty="0">
                <a:latin typeface="Tahoma" panose="020B0604030504040204" pitchFamily="34" charset="0"/>
                <a:ea typeface="Tahoma" panose="020B0604030504040204" pitchFamily="34" charset="0"/>
                <a:cs typeface="Tahoma" panose="020B0604030504040204" pitchFamily="34" charset="0"/>
              </a:rPr>
              <a:t>File Handling: </a:t>
            </a:r>
            <a:r>
              <a:rPr lang="en-US" sz="2000" dirty="0" err="1">
                <a:latin typeface="Tahoma" panose="020B0604030504040204" pitchFamily="34" charset="0"/>
                <a:ea typeface="Tahoma" panose="020B0604030504040204" pitchFamily="34" charset="0"/>
                <a:cs typeface="Tahoma" panose="020B0604030504040204" pitchFamily="34" charset="0"/>
              </a:rPr>
              <a:t>Multer</a:t>
            </a:r>
            <a:r>
              <a:rPr lang="en-US" sz="2000" dirty="0">
                <a:latin typeface="Tahoma" panose="020B0604030504040204" pitchFamily="34" charset="0"/>
                <a:ea typeface="Tahoma" panose="020B0604030504040204" pitchFamily="34" charset="0"/>
                <a:cs typeface="Tahoma" panose="020B0604030504040204" pitchFamily="34" charset="0"/>
              </a:rPr>
              <a:t> (Used for media staging and video uploads)</a:t>
            </a:r>
          </a:p>
          <a:p>
            <a:r>
              <a:rPr lang="en-US" sz="2000" dirty="0">
                <a:latin typeface="Tahoma" panose="020B0604030504040204" pitchFamily="34" charset="0"/>
                <a:ea typeface="Tahoma" panose="020B0604030504040204" pitchFamily="34" charset="0"/>
                <a:cs typeface="Tahoma" panose="020B0604030504040204" pitchFamily="34" charset="0"/>
              </a:rPr>
              <a:t>Security: JSON Web Tokens (JWT) for session management</a:t>
            </a:r>
          </a:p>
        </p:txBody>
      </p:sp>
    </p:spTree>
    <p:extLst>
      <p:ext uri="{BB962C8B-B14F-4D97-AF65-F5344CB8AC3E}">
        <p14:creationId xmlns:p14="http://schemas.microsoft.com/office/powerpoint/2010/main" val="2244471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34725</TotalTime>
  <Words>360</Words>
  <Application>Microsoft Office PowerPoint</Application>
  <PresentationFormat>On-screen Show (4:3)</PresentationFormat>
  <Paragraphs>44</Paragraphs>
  <Slides>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Mona Sans VF</vt:lpstr>
      <vt:lpstr>Tahoma</vt:lpstr>
      <vt:lpstr>Times New Roman</vt:lpstr>
      <vt:lpstr>Office Theme</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Windows User</cp:lastModifiedBy>
  <cp:revision>2303</cp:revision>
  <dcterms:created xsi:type="dcterms:W3CDTF">2010-04-09T07:36:15Z</dcterms:created>
  <dcterms:modified xsi:type="dcterms:W3CDTF">2026-05-01T17:08:57Z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